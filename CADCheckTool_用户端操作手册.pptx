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9857"/>
            <a:ext cx="12188952" cy="2500"/>
          </a:xfrm>
          <a:prstGeom prst="rect">
            <a:avLst/>
          </a:prstGeom>
          <a:solidFill>
            <a:srgbClr val="1E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79714"/>
            <a:ext cx="12188952" cy="2500"/>
          </a:xfrm>
          <a:prstGeom prst="rect">
            <a:avLst/>
          </a:prstGeom>
          <a:solidFill>
            <a:srgbClr val="1E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469571"/>
            <a:ext cx="12188952" cy="2500"/>
          </a:xfrm>
          <a:prstGeom prst="rect">
            <a:avLst/>
          </a:prstGeom>
          <a:solidFill>
            <a:srgbClr val="1E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959428"/>
            <a:ext cx="12188952" cy="2500"/>
          </a:xfrm>
          <a:prstGeom prst="rect">
            <a:avLst/>
          </a:prstGeom>
          <a:solidFill>
            <a:srgbClr val="1E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449285"/>
            <a:ext cx="12188952" cy="2500"/>
          </a:xfrm>
          <a:prstGeom prst="rect">
            <a:avLst/>
          </a:prstGeom>
          <a:solidFill>
            <a:srgbClr val="1E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2939142"/>
            <a:ext cx="12188952" cy="2500"/>
          </a:xfrm>
          <a:prstGeom prst="rect">
            <a:avLst/>
          </a:prstGeom>
          <a:solidFill>
            <a:srgbClr val="1E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3429000"/>
            <a:ext cx="12188952" cy="2500"/>
          </a:xfrm>
          <a:prstGeom prst="rect">
            <a:avLst/>
          </a:prstGeom>
          <a:solidFill>
            <a:srgbClr val="1E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3918857"/>
            <a:ext cx="12188952" cy="2500"/>
          </a:xfrm>
          <a:prstGeom prst="rect">
            <a:avLst/>
          </a:prstGeom>
          <a:solidFill>
            <a:srgbClr val="1E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4408714"/>
            <a:ext cx="12188952" cy="2500"/>
          </a:xfrm>
          <a:prstGeom prst="rect">
            <a:avLst/>
          </a:prstGeom>
          <a:solidFill>
            <a:srgbClr val="1E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898571"/>
            <a:ext cx="12188952" cy="2500"/>
          </a:xfrm>
          <a:prstGeom prst="rect">
            <a:avLst/>
          </a:prstGeom>
          <a:solidFill>
            <a:srgbClr val="1E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5388428"/>
            <a:ext cx="12188952" cy="2500"/>
          </a:xfrm>
          <a:prstGeom prst="rect">
            <a:avLst/>
          </a:prstGeom>
          <a:solidFill>
            <a:srgbClr val="1E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5878285"/>
            <a:ext cx="12188952" cy="2500"/>
          </a:xfrm>
          <a:prstGeom prst="rect">
            <a:avLst/>
          </a:prstGeom>
          <a:solidFill>
            <a:srgbClr val="1E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368142"/>
            <a:ext cx="12188952" cy="2500"/>
          </a:xfrm>
          <a:prstGeom prst="rect">
            <a:avLst/>
          </a:prstGeom>
          <a:solidFill>
            <a:srgbClr val="1E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7873" y="0"/>
            <a:ext cx="2500" cy="6858000"/>
          </a:xfrm>
          <a:prstGeom prst="rect">
            <a:avLst/>
          </a:prstGeom>
          <a:solidFill>
            <a:srgbClr val="1E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15746" y="0"/>
            <a:ext cx="2500" cy="6858000"/>
          </a:xfrm>
          <a:prstGeom prst="rect">
            <a:avLst/>
          </a:prstGeom>
          <a:solidFill>
            <a:srgbClr val="1E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523619" y="0"/>
            <a:ext cx="2500" cy="6858000"/>
          </a:xfrm>
          <a:prstGeom prst="rect">
            <a:avLst/>
          </a:prstGeom>
          <a:solidFill>
            <a:srgbClr val="1E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31492" y="0"/>
            <a:ext cx="2500" cy="6858000"/>
          </a:xfrm>
          <a:prstGeom prst="rect">
            <a:avLst/>
          </a:prstGeom>
          <a:solidFill>
            <a:srgbClr val="1E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39365" y="0"/>
            <a:ext cx="2500" cy="6858000"/>
          </a:xfrm>
          <a:prstGeom prst="rect">
            <a:avLst/>
          </a:prstGeom>
          <a:solidFill>
            <a:srgbClr val="1E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047238" y="0"/>
            <a:ext cx="2500" cy="6858000"/>
          </a:xfrm>
          <a:prstGeom prst="rect">
            <a:avLst/>
          </a:prstGeom>
          <a:solidFill>
            <a:srgbClr val="1E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55111" y="0"/>
            <a:ext cx="2500" cy="6858000"/>
          </a:xfrm>
          <a:prstGeom prst="rect">
            <a:avLst/>
          </a:prstGeom>
          <a:solidFill>
            <a:srgbClr val="1E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062984" y="0"/>
            <a:ext cx="2500" cy="6858000"/>
          </a:xfrm>
          <a:prstGeom prst="rect">
            <a:avLst/>
          </a:prstGeom>
          <a:solidFill>
            <a:srgbClr val="1E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0857" y="0"/>
            <a:ext cx="2500" cy="6858000"/>
          </a:xfrm>
          <a:prstGeom prst="rect">
            <a:avLst/>
          </a:prstGeom>
          <a:solidFill>
            <a:srgbClr val="1E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78730" y="0"/>
            <a:ext cx="2500" cy="6858000"/>
          </a:xfrm>
          <a:prstGeom prst="rect">
            <a:avLst/>
          </a:prstGeom>
          <a:solidFill>
            <a:srgbClr val="1E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86603" y="0"/>
            <a:ext cx="2500" cy="6858000"/>
          </a:xfrm>
          <a:prstGeom prst="rect">
            <a:avLst/>
          </a:prstGeom>
          <a:solidFill>
            <a:srgbClr val="1E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94476" y="0"/>
            <a:ext cx="2500" cy="6858000"/>
          </a:xfrm>
          <a:prstGeom prst="rect">
            <a:avLst/>
          </a:prstGeom>
          <a:solidFill>
            <a:srgbClr val="1E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602349" y="0"/>
            <a:ext cx="2500" cy="6858000"/>
          </a:xfrm>
          <a:prstGeom prst="rect">
            <a:avLst/>
          </a:prstGeom>
          <a:solidFill>
            <a:srgbClr val="1E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110222" y="0"/>
            <a:ext cx="2500" cy="6858000"/>
          </a:xfrm>
          <a:prstGeom prst="rect">
            <a:avLst/>
          </a:prstGeom>
          <a:solidFill>
            <a:srgbClr val="1E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618095" y="0"/>
            <a:ext cx="2500" cy="6858000"/>
          </a:xfrm>
          <a:prstGeom prst="rect">
            <a:avLst/>
          </a:prstGeom>
          <a:solidFill>
            <a:srgbClr val="1E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25968" y="0"/>
            <a:ext cx="2500" cy="6858000"/>
          </a:xfrm>
          <a:prstGeom prst="rect">
            <a:avLst/>
          </a:prstGeom>
          <a:solidFill>
            <a:srgbClr val="1E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633841" y="0"/>
            <a:ext cx="2500" cy="6858000"/>
          </a:xfrm>
          <a:prstGeom prst="rect">
            <a:avLst/>
          </a:prstGeom>
          <a:solidFill>
            <a:srgbClr val="1E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141714" y="0"/>
            <a:ext cx="2500" cy="6858000"/>
          </a:xfrm>
          <a:prstGeom prst="rect">
            <a:avLst/>
          </a:prstGeom>
          <a:solidFill>
            <a:srgbClr val="1E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49587" y="0"/>
            <a:ext cx="2500" cy="6858000"/>
          </a:xfrm>
          <a:prstGeom prst="rect">
            <a:avLst/>
          </a:prstGeom>
          <a:solidFill>
            <a:srgbClr val="1E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157460" y="0"/>
            <a:ext cx="2500" cy="6858000"/>
          </a:xfrm>
          <a:prstGeom prst="rect">
            <a:avLst/>
          </a:prstGeom>
          <a:solidFill>
            <a:srgbClr val="1E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665333" y="0"/>
            <a:ext cx="2500" cy="6858000"/>
          </a:xfrm>
          <a:prstGeom prst="rect">
            <a:avLst/>
          </a:prstGeom>
          <a:solidFill>
            <a:srgbClr val="1E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1173206" y="0"/>
            <a:ext cx="2500" cy="6858000"/>
          </a:xfrm>
          <a:prstGeom prst="rect">
            <a:avLst/>
          </a:prstGeom>
          <a:solidFill>
            <a:srgbClr val="1E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681079" y="0"/>
            <a:ext cx="2500" cy="6858000"/>
          </a:xfrm>
          <a:prstGeom prst="rect">
            <a:avLst/>
          </a:prstGeom>
          <a:solidFill>
            <a:srgbClr val="1E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146304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微软雅黑"/>
              </a:rPr>
              <a:t>CADCheckTool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246888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A8D4FF"/>
                </a:solidFill>
                <a:latin typeface="微软雅黑"/>
              </a:rPr>
              <a:t>用户端操作手册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3246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0C8E8"/>
                </a:solidFill>
                <a:latin typeface="微软雅黑"/>
              </a:rPr>
              <a:t>AutoCAD 工程图纸自动化检查插件  ｜  面向最终用户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37760" y="3931920"/>
            <a:ext cx="2286000" cy="1463040"/>
          </a:xfrm>
          <a:prstGeom prst="rect">
            <a:avLst/>
          </a:prstGeom>
          <a:solidFill>
            <a:srgbClr val="D6E8F7"/>
          </a:solidFill>
          <a:ln w="19050">
            <a:solidFill>
              <a:srgbClr val="1A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37760" y="4462272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6FB5"/>
                </a:solidFill>
                <a:latin typeface="微软雅黑"/>
              </a:rPr>
              <a:t>【占位：产品 Logo / 封面图】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6126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A8D0"/>
                </a:solidFill>
                <a:latin typeface="微软雅黑"/>
              </a:rPr>
              <a:t>版本 V1.0  · 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D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09728" cy="589788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914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目  录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05840"/>
            <a:ext cx="457200" cy="402336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96696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96012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微软雅黑"/>
              </a:rPr>
              <a:t>使用须知 &amp; 注意事项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1005840"/>
            <a:ext cx="457200" cy="402336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0" y="996696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96012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微软雅黑"/>
              </a:rPr>
              <a:t>首次安装与配置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664208"/>
            <a:ext cx="457200" cy="402336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655064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1618488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微软雅黑"/>
              </a:rPr>
              <a:t>快捷命令入口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0" y="1664208"/>
            <a:ext cx="457200" cy="402336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0" y="1655064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1618488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微软雅黑"/>
              </a:rPr>
              <a:t>单张检查——操作流程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322576"/>
            <a:ext cx="457200" cy="402336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313432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2276856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微软雅黑"/>
              </a:rPr>
              <a:t>单张检查——编辑与复查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52160" y="2322576"/>
            <a:ext cx="457200" cy="402336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0" y="2313432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2276856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微软雅黑"/>
              </a:rPr>
              <a:t>批量检查——执行流程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980944"/>
            <a:ext cx="457200" cy="402336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2971800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" y="2935224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微软雅黑"/>
              </a:rPr>
              <a:t>批量检查——查看报告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52160" y="2980944"/>
            <a:ext cx="457200" cy="402336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52160" y="2971800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2935224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微软雅黑"/>
              </a:rPr>
              <a:t>批量注释清除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639312"/>
            <a:ext cx="457200" cy="402336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630168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" y="359359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微软雅黑"/>
              </a:rPr>
              <a:t>可检查问题汇总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52160" y="3639312"/>
            <a:ext cx="457200" cy="402336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52160" y="3630168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82512" y="359359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微软雅黑"/>
              </a:rPr>
              <a:t>报错与防崩溃机制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297680"/>
            <a:ext cx="457200" cy="402336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4288536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" y="425196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微软雅黑"/>
              </a:rPr>
              <a:t>软件卸载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52160" y="4297680"/>
            <a:ext cx="457200" cy="402336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52160" y="4288536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82512" y="425196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微软雅黑"/>
              </a:rPr>
              <a:t>快速核查清单 &amp; 支持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D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09728" cy="589788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91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使用须知  &amp;  注意事项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822960"/>
            <a:ext cx="10789920" cy="59436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886968"/>
            <a:ext cx="1057046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微软雅黑"/>
              </a:rPr>
              <a:t>⚠  安装前必须关闭 AutoCAD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08760"/>
            <a:ext cx="10789920" cy="59436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572768"/>
            <a:ext cx="1057046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微软雅黑"/>
              </a:rPr>
              <a:t>⚠  执行批量检查 / 批量注释清除时，目标图纸文件必须处于关闭状态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31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3C6E"/>
                </a:solidFill>
                <a:latin typeface="微软雅黑"/>
              </a:rPr>
              <a:t>其他使用建议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889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A1A2E"/>
                </a:solidFill>
                <a:latin typeface="微软雅黑"/>
              </a:rPr>
              <a:t>✔  首次安装后，后续打开 AutoCAD 将自动加载插件，无需重复下载安装。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A1A2E"/>
                </a:solidFill>
                <a:latin typeface="微软雅黑"/>
              </a:rPr>
              <a:t>✔  弹窗检查结果仅供参考，图纸内的标注内容为最终权威依据。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A1A2E"/>
                </a:solidFill>
                <a:latin typeface="微软雅黑"/>
              </a:rPr>
              <a:t>✔  若插件出现严重报错，AutoCAD 可能关闭，但原始 DWG 文件不会损坏。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A1A2E"/>
                </a:solidFill>
                <a:latin typeface="微软雅黑"/>
              </a:rPr>
              <a:t>✔  建议在执行批量检查前，确认所有目标图纸已保存并关闭。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D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09728" cy="589788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91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首次安装与配置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>
                <a:solidFill>
                  <a:srgbClr val="1A1A2E"/>
                </a:solidFill>
                <a:latin typeface="微软雅黑"/>
              </a:rPr>
              <a:t>① 确认 AutoCAD 已完全关闭（包括后台进程）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A1A2E"/>
                </a:solidFill>
                <a:latin typeface="微软雅黑"/>
              </a:rPr>
              <a:t>② 下载安装包，双击运行 setup.exe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A1A2E"/>
                </a:solidFill>
                <a:latin typeface="微软雅黑"/>
              </a:rPr>
              <a:t>   ➞ 推荐：右键 → 以管理员身份运行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A1A2E"/>
                </a:solidFill>
                <a:latin typeface="微软雅黑"/>
              </a:rPr>
              <a:t>③ 在安装界面中点击 [Install] 按鈕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A1A2E"/>
                </a:solidFill>
                <a:latin typeface="微软雅黑"/>
              </a:rPr>
              <a:t>④ 等待安装完成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A1A2E"/>
                </a:solidFill>
                <a:latin typeface="微软雅黑"/>
              </a:rPr>
              <a:t>   ✔  完成后即配置成功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A1A2E"/>
                </a:solidFill>
                <a:latin typeface="微软雅黑"/>
              </a:rPr>
              <a:t>   ✔  后续启动 AutoCAD 将自动加载插件，无需重复安装</a:t>
            </a:r>
          </a:p>
        </p:txBody>
      </p:sp>
      <p:sp>
        <p:nvSpPr>
          <p:cNvPr id="8" name="Rectangle 7"/>
          <p:cNvSpPr/>
          <p:nvPr/>
        </p:nvSpPr>
        <p:spPr>
          <a:xfrm>
            <a:off x="6949440" y="914400"/>
            <a:ext cx="4389120" cy="2926080"/>
          </a:xfrm>
          <a:prstGeom prst="rect">
            <a:avLst/>
          </a:prstGeom>
          <a:solidFill>
            <a:srgbClr val="D6E8F7"/>
          </a:solidFill>
          <a:ln w="19050">
            <a:solidFill>
              <a:srgbClr val="1A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2176272"/>
            <a:ext cx="4389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6FB5"/>
                </a:solidFill>
                <a:latin typeface="微软雅黑"/>
              </a:rPr>
              <a:t>【截图占位：安装界面 (setup.exe)】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806440"/>
            <a:ext cx="10789920" cy="594360"/>
          </a:xfrm>
          <a:prstGeom prst="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5870448"/>
            <a:ext cx="1057046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/>
              </a:rPr>
              <a:t>[tip] 小提示：安装完成后，下次打开 AutoCAD 即可直接使用，无需任何额外操作。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D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09728" cy="589788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91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快捷命令入口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3C6E"/>
                </a:solidFill>
                <a:latin typeface="微软雅黑"/>
              </a:rPr>
              <a:t>打开插件窗口的方式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508760"/>
            <a:ext cx="5760720" cy="1005840"/>
          </a:xfrm>
          <a:prstGeom prst="rect">
            <a:avLst/>
          </a:prstGeom>
          <a:solidFill>
            <a:srgbClr val="0D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1536192"/>
            <a:ext cx="5760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A8D4FF"/>
                </a:solidFill>
                <a:latin typeface="微软雅黑"/>
              </a:rPr>
              <a:t>CHECKDRAWING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微软雅黑"/>
              </a:rPr>
              <a:t>在 AutoCAD 命令行中输入以上命令，然后按 Enter 键，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微软雅黑"/>
              </a:rPr>
              <a:t>即可打开 CADCheckTool 插件窗口。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926080"/>
            <a:ext cx="10789920" cy="3108960"/>
          </a:xfrm>
          <a:prstGeom prst="rect">
            <a:avLst/>
          </a:prstGeom>
          <a:solidFill>
            <a:srgbClr val="D6E8F7"/>
          </a:solidFill>
          <a:ln w="19050">
            <a:solidFill>
              <a:srgbClr val="1A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279392"/>
            <a:ext cx="10789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6FB5"/>
                </a:solidFill>
                <a:latin typeface="微软雅黑"/>
              </a:rPr>
              <a:t>【截图占位：AutoCAD 命令行输入 CHECKDRAWING / 插件主窗口】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D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09728" cy="589788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91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单张检查——操作概览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2103120" cy="9144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点击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「单张检查」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1920240"/>
            <a:ext cx="2103120" cy="9144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192024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点击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「检查当前图纸」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94960" y="1920240"/>
            <a:ext cx="2103120" cy="9144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192024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等待检查完成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1920240"/>
            <a:ext cx="2103120" cy="9144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92024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查看弹窗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+图纸标注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21488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6FB5"/>
                </a:solidFill>
                <a:latin typeface="微软雅黑"/>
              </a:rPr>
              <a:t>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1488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6FB5"/>
                </a:solidFill>
                <a:latin typeface="微软雅黑"/>
              </a:rPr>
              <a:t>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21488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6FB5"/>
                </a:solidFill>
                <a:latin typeface="微软雅黑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200400"/>
            <a:ext cx="5120640" cy="2743200"/>
          </a:xfrm>
          <a:prstGeom prst="rect">
            <a:avLst/>
          </a:prstGeom>
          <a:solidFill>
            <a:srgbClr val="D6E8F7"/>
          </a:solidFill>
          <a:ln w="19050">
            <a:solidFill>
              <a:srgbClr val="1A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370832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6FB5"/>
                </a:solidFill>
                <a:latin typeface="微软雅黑"/>
              </a:rPr>
              <a:t>【截图占位：单张检查入口按鈕】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3200400"/>
            <a:ext cx="5669280" cy="2743200"/>
          </a:xfrm>
          <a:prstGeom prst="rect">
            <a:avLst/>
          </a:prstGeom>
          <a:solidFill>
            <a:srgbClr val="D6E8F7"/>
          </a:solidFill>
          <a:ln w="19050">
            <a:solidFill>
              <a:srgbClr val="1A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4370832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6FB5"/>
                </a:solidFill>
                <a:latin typeface="微软雅黑"/>
              </a:rPr>
              <a:t>【截图占位：检查完成弹窗 &amp; 图纸标注示例】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D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09728" cy="589788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91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单张检查——详细步骤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229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>
                <a:solidFill>
                  <a:srgbClr val="1A1A2E"/>
                </a:solidFill>
                <a:latin typeface="微软雅黑"/>
              </a:rPr>
              <a:t>① 在插件窗口中，点击左侧「单张检查」选项卡。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A1A2E"/>
                </a:solidFill>
                <a:latin typeface="微软雅黑"/>
              </a:rPr>
              <a:t>② 点击「检查当前图纸」按鈕，系统开始自动检查当前已打开的图纸。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A1A2E"/>
                </a:solidFill>
                <a:latin typeface="微软雅黑"/>
              </a:rPr>
              <a:t>③ 检查完成后：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A1A2E"/>
                </a:solidFill>
                <a:latin typeface="微软雅黑"/>
              </a:rPr>
              <a:t>     • 弹窗将展示检查摘要（仅供参考）。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A1A2E"/>
                </a:solidFill>
                <a:latin typeface="微软雅黑"/>
              </a:rPr>
              <a:t>     • 图纸内将在错误位置自动添加标注（以图纸标注为准）。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A1A2E"/>
                </a:solidFill>
                <a:latin typeface="微软雅黑"/>
              </a:rPr>
              <a:t>④ 仔细核对图纸内的标注内容，确认需要修改的项目。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886200"/>
            <a:ext cx="10789920" cy="6858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3950208"/>
            <a:ext cx="10570464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/>
              </a:rPr>
              <a:t>[NOTE] 重要说明：弹窗中的检查结果为辅助参考，图纸内的标注是最终准确依据，请以图纸标注为准。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754880"/>
            <a:ext cx="10789920" cy="1737360"/>
          </a:xfrm>
          <a:prstGeom prst="rect">
            <a:avLst/>
          </a:prstGeom>
          <a:solidFill>
            <a:srgbClr val="D6E8F7"/>
          </a:solidFill>
          <a:ln w="19050">
            <a:solidFill>
              <a:srgbClr val="1A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422392"/>
            <a:ext cx="10789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6FB5"/>
                </a:solidFill>
                <a:latin typeface="微软雅黑"/>
              </a:rPr>
              <a:t>【截图占位：检查弹窗 &amp; 图纸内标注对比示意】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D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09728" cy="589788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91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单张检查——编辑与复查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>
                <a:solidFill>
                  <a:srgbClr val="1A1A2E"/>
                </a:solidFill>
                <a:latin typeface="微软雅黑"/>
              </a:rPr>
              <a:t>① 如需修改图纸内容，先在插件窗口中点击「关闭」按鈕。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A1A2E"/>
                </a:solidFill>
                <a:latin typeface="微软雅黑"/>
              </a:rPr>
              <a:t>② 在 AutoCAD 中完成图纸内容的修改。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A1A2E"/>
                </a:solidFill>
                <a:latin typeface="微软雅黑"/>
              </a:rPr>
              <a:t>③ 修改完成后，重新运行 CHECKDRAWING，再次点击「检查当前图纸」，进行复查。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A1A2E"/>
                </a:solidFill>
                <a:latin typeface="微软雅黑"/>
              </a:rPr>
              <a:t>④ 若要清除上一次检查留下的标注，点击「清除当前图纸修改注释」。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A1A2E"/>
                </a:solidFill>
                <a:latin typeface="微软雅黑"/>
              </a:rPr>
              <a:t>   ✔  清除后，图纸内的所有检查标注将被删除，可重新开始检查。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754880"/>
            <a:ext cx="2377440" cy="731520"/>
          </a:xfrm>
          <a:prstGeom prst="rect">
            <a:avLst/>
          </a:prstGeom>
          <a:solidFill>
            <a:srgbClr val="0D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7548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关闭插件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493776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6FB5"/>
                </a:solidFill>
                <a:latin typeface="微软雅黑"/>
              </a:rPr>
              <a:t>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6432" y="4754880"/>
            <a:ext cx="2377440" cy="731520"/>
          </a:xfrm>
          <a:prstGeom prst="rect">
            <a:avLst/>
          </a:prstGeom>
          <a:solidFill>
            <a:srgbClr val="0D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6432" y="47548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修改图纸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33872" y="493776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6FB5"/>
                </a:solidFill>
                <a:latin typeface="微软雅黑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64224" y="4754880"/>
            <a:ext cx="2377440" cy="731520"/>
          </a:xfrm>
          <a:prstGeom prst="rect">
            <a:avLst/>
          </a:prstGeom>
          <a:solidFill>
            <a:srgbClr val="0D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4224" y="47548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重新检查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41664" y="493776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6FB5"/>
                </a:solidFill>
                <a:latin typeface="微软雅黑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72016" y="4754880"/>
            <a:ext cx="2377440" cy="731520"/>
          </a:xfrm>
          <a:prstGeom prst="rect">
            <a:avLst/>
          </a:prstGeom>
          <a:solidFill>
            <a:srgbClr val="0D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72016" y="47548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（可选）清除注释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577840"/>
            <a:ext cx="10789920" cy="1005840"/>
          </a:xfrm>
          <a:prstGeom prst="rect">
            <a:avLst/>
          </a:prstGeom>
          <a:solidFill>
            <a:srgbClr val="D6E8F7"/>
          </a:solidFill>
          <a:ln w="19050">
            <a:solidFill>
              <a:srgbClr val="1A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879592"/>
            <a:ext cx="10789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6FB5"/>
                </a:solidFill>
                <a:latin typeface="微软雅黑"/>
              </a:rPr>
              <a:t>【截图占位：「清除当前图纸修改注释」按鈕位置】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D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09728" cy="589788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91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批量检查——执行流程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>
                <a:solidFill>
                  <a:srgbClr val="1A1A2E"/>
                </a:solidFill>
                <a:latin typeface="微软雅黑"/>
              </a:rPr>
              <a:t>① 在插件窗口中，点击「批量检查」选项卡。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A1A2E"/>
                </a:solidFill>
                <a:latin typeface="微软雅黑"/>
              </a:rPr>
              <a:t>② 点击「执行批量检查」按鈕。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A1A2E"/>
                </a:solidFill>
                <a:latin typeface="微软雅黑"/>
              </a:rPr>
              <a:t>③ 在弹出的文件夹选择对话框中，选择需要检查的目标文件夹（可选计算机上任意位置）。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A1A2E"/>
                </a:solidFill>
                <a:latin typeface="微软雅黑"/>
              </a:rPr>
              <a:t>④ 确认选择后，系统将自动遍历并检查该文件夹内的所有 .dwg 图纸文件。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A1A2E"/>
                </a:solidFill>
                <a:latin typeface="微软雅黑"/>
              </a:rPr>
              <a:t>⑤ 等待检查完成（文件较多时可能需要几分钟，请耐心等待）。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206240"/>
            <a:ext cx="10789920" cy="64008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4270248"/>
            <a:ext cx="105704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/>
              </a:rPr>
              <a:t>⚠  注意：执行批量检查期间，所有目标图纸文件必须处于关闭状态，否则可能导致检查失败。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983480"/>
            <a:ext cx="5120640" cy="1600200"/>
          </a:xfrm>
          <a:prstGeom prst="rect">
            <a:avLst/>
          </a:prstGeom>
          <a:solidFill>
            <a:srgbClr val="D6E8F7"/>
          </a:solidFill>
          <a:ln w="19050">
            <a:solidFill>
              <a:srgbClr val="1A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582412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6FB5"/>
                </a:solidFill>
                <a:latin typeface="微软雅黑"/>
              </a:rPr>
              <a:t>【截图占位：批量检查按鈕 &amp; 执行批量检查】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4983480"/>
            <a:ext cx="5669280" cy="1600200"/>
          </a:xfrm>
          <a:prstGeom prst="rect">
            <a:avLst/>
          </a:prstGeom>
          <a:solidFill>
            <a:srgbClr val="D6E8F7"/>
          </a:solidFill>
          <a:ln w="19050">
            <a:solidFill>
              <a:srgbClr val="1A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5582412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6FB5"/>
                </a:solidFill>
                <a:latin typeface="微软雅黑"/>
              </a:rPr>
              <a:t>【截图占位：文件夹选择对话框】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D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09728" cy="589788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91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批量检查——查看报告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50">
                <a:solidFill>
                  <a:srgbClr val="1A1A2E"/>
                </a:solidFill>
                <a:latin typeface="微软雅黑"/>
              </a:rPr>
              <a:t>完成后会弹出提示框：</a:t>
            </a:r>
          </a:p>
          <a:p>
            <a:pPr>
              <a:spcBef>
                <a:spcPts val="500"/>
              </a:spcBef>
            </a:pPr>
            <a:r>
              <a:rPr sz="1350">
                <a:solidFill>
                  <a:srgbClr val="1A1A2E"/>
                </a:solidFill>
                <a:latin typeface="微软雅黑"/>
              </a:rPr>
              <a:t>   • 点击 [是] → 自动打开本次检查报告。</a:t>
            </a:r>
          </a:p>
          <a:p>
            <a:pPr>
              <a:spcBef>
                <a:spcPts val="500"/>
              </a:spcBef>
            </a:pPr>
            <a:r>
              <a:rPr sz="1350">
                <a:solidFill>
                  <a:srgbClr val="1A1A2E"/>
                </a:solidFill>
                <a:latin typeface="微软雅黑"/>
              </a:rPr>
              <a:t>   • 点击 [否] → 稍后可通过以下方式手动打开：</a:t>
            </a:r>
          </a:p>
          <a:p>
            <a:pPr>
              <a:spcBef>
                <a:spcPts val="500"/>
              </a:spcBef>
            </a:pPr>
            <a:r>
              <a:rPr sz="1350">
                <a:solidFill>
                  <a:srgbClr val="1A1A2E"/>
                </a:solidFill>
                <a:latin typeface="微软雅黑"/>
              </a:rPr>
              <a:t>       ① 在插件窗口中点击「打开批量检查报告」按鈕；</a:t>
            </a:r>
          </a:p>
          <a:p>
            <a:pPr>
              <a:spcBef>
                <a:spcPts val="500"/>
              </a:spcBef>
            </a:pPr>
            <a:r>
              <a:rPr sz="1350">
                <a:solidFill>
                  <a:srgbClr val="1A1A2E"/>
                </a:solidFill>
                <a:latin typeface="微软雅黑"/>
              </a:rPr>
              <a:t>       ② 或在检查的目标文件夹中直接找到报告文件，双击打开。</a:t>
            </a:r>
          </a:p>
          <a:p>
            <a:pPr>
              <a:spcBef>
                <a:spcPts val="500"/>
              </a:spcBef>
            </a:pPr>
            <a:r>
              <a:rPr sz="1350">
                <a:solidFill>
                  <a:srgbClr val="1A1A2E"/>
                </a:solidFill>
                <a:latin typeface="微软雅黑"/>
              </a:rPr>
              <a:t/>
            </a:r>
          </a:p>
          <a:p>
            <a:pPr>
              <a:spcBef>
                <a:spcPts val="500"/>
              </a:spcBef>
            </a:pPr>
            <a:r>
              <a:rPr sz="1350">
                <a:solidFill>
                  <a:srgbClr val="1A1A2E"/>
                </a:solidFill>
                <a:latin typeface="微软雅黑"/>
              </a:rPr>
              <a:t>打开报告后：</a:t>
            </a:r>
          </a:p>
          <a:p>
            <a:pPr>
              <a:spcBef>
                <a:spcPts val="500"/>
              </a:spcBef>
            </a:pPr>
            <a:r>
              <a:rPr sz="1350">
                <a:solidFill>
                  <a:srgbClr val="1A1A2E"/>
                </a:solidFill>
                <a:latin typeface="微软雅黑"/>
              </a:rPr>
              <a:t>   • 报告以表格形式列出每张图纸及其对应错误项。</a:t>
            </a:r>
          </a:p>
          <a:p>
            <a:pPr>
              <a:spcBef>
                <a:spcPts val="500"/>
              </a:spcBef>
            </a:pPr>
            <a:r>
              <a:rPr sz="1350">
                <a:solidFill>
                  <a:srgbClr val="1A1A2E"/>
                </a:solidFill>
                <a:latin typeface="微软雅黑"/>
              </a:rPr>
              <a:t>   • 点击报告中的「打开图纸」按鈕，可直接在 AutoCAD 中打开对应 .dwg 文件，查看图纸内的自动标注。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349240"/>
            <a:ext cx="5120640" cy="1280160"/>
          </a:xfrm>
          <a:prstGeom prst="rect">
            <a:avLst/>
          </a:prstGeom>
          <a:solidFill>
            <a:srgbClr val="D6E8F7"/>
          </a:solidFill>
          <a:ln w="19050">
            <a:solidFill>
              <a:srgbClr val="1A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788152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6FB5"/>
                </a:solidFill>
                <a:latin typeface="微软雅黑"/>
              </a:rPr>
              <a:t>【截图占位：完成提示弹窗（是/否）】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5349240"/>
            <a:ext cx="5669280" cy="1280160"/>
          </a:xfrm>
          <a:prstGeom prst="rect">
            <a:avLst/>
          </a:prstGeom>
          <a:solidFill>
            <a:srgbClr val="D6E8F7"/>
          </a:solidFill>
          <a:ln w="19050">
            <a:solidFill>
              <a:srgbClr val="1A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5788152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6FB5"/>
                </a:solidFill>
                <a:latin typeface="微软雅黑"/>
              </a:rPr>
              <a:t>【截图占位：批量检查报告表格示例】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D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09728" cy="589788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91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批量注释清除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>
                <a:solidFill>
                  <a:srgbClr val="1A1A2E"/>
                </a:solidFill>
                <a:latin typeface="微软雅黑"/>
              </a:rPr>
              <a:t>适用场景：需要一次性清除某个文件夹内所有图纸的检查标注时使用。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A1A2E"/>
                </a:solidFill>
                <a:latin typeface="微软雅黑"/>
              </a:rPr>
              <a:t/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A1A2E"/>
                </a:solidFill>
                <a:latin typeface="微软雅黑"/>
              </a:rPr>
              <a:t>① 在插件窗口中，点击「清除所有图纸修改注释」按鈕。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A1A2E"/>
                </a:solidFill>
                <a:latin typeface="微软雅黑"/>
              </a:rPr>
              <a:t>② 在弹出的文件夹选择对话框中，选择目标文件夹。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A1A2E"/>
                </a:solidFill>
                <a:latin typeface="微软雅黑"/>
              </a:rPr>
              <a:t>③ 系统将自动清除该文件夹内所有 .dwg 图纸中的检查标注。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A1A2E"/>
                </a:solidFill>
                <a:latin typeface="微软雅黑"/>
              </a:rPr>
              <a:t>④ 完成后，目标图纸将恢复为无标注状态。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206240"/>
            <a:ext cx="10789920" cy="64008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4270248"/>
            <a:ext cx="105704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/>
              </a:rPr>
              <a:t>⚠  注意：清除操作前，所有目标图纸文件必须处于关闭状态，否则可能导致操作失败。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983480"/>
            <a:ext cx="10789920" cy="1600200"/>
          </a:xfrm>
          <a:prstGeom prst="rect">
            <a:avLst/>
          </a:prstGeom>
          <a:solidFill>
            <a:srgbClr val="D6E8F7"/>
          </a:solidFill>
          <a:ln w="19050">
            <a:solidFill>
              <a:srgbClr val="1A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582412"/>
            <a:ext cx="10789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6FB5"/>
                </a:solidFill>
                <a:latin typeface="微软雅黑"/>
              </a:rPr>
              <a:t>【截图占位：「清除所有图纸修改注释」按鈕 &amp; 文件夹选择】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D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09728" cy="589788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91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可检查问题汇总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04672"/>
            <a:ext cx="5669280" cy="987552"/>
          </a:xfrm>
          <a:prstGeom prst="rect">
            <a:avLst/>
          </a:prstGeom>
          <a:solidFill>
            <a:srgbClr val="D6E8F7"/>
          </a:solidFill>
          <a:ln w="12700">
            <a:solidFill>
              <a:srgbClr val="1A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804672"/>
            <a:ext cx="109728" cy="987552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84124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3C6E"/>
                </a:solidFill>
                <a:latin typeface="微软雅黑"/>
              </a:rPr>
              <a:t>项目号与文件名不匹配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188720"/>
            <a:ext cx="5394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微软雅黑"/>
              </a:rPr>
              <a:t>检查图纸内是否存在与文件名不符的项目号</a:t>
            </a:r>
          </a:p>
          <a:p>
            <a:pPr algn="l"/>
            <a:r>
              <a:rPr sz="1100" b="0">
                <a:solidFill>
                  <a:srgbClr val="1A1A2E"/>
                </a:solidFill>
                <a:latin typeface="微软雅黑"/>
              </a:rPr>
              <a:t>→ 在图纸内错误位置旁标注参考正确内容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804672"/>
            <a:ext cx="5669280" cy="987552"/>
          </a:xfrm>
          <a:prstGeom prst="rect">
            <a:avLst/>
          </a:prstGeom>
          <a:solidFill>
            <a:srgbClr val="D6E8F7"/>
          </a:solidFill>
          <a:ln w="12700">
            <a:solidFill>
              <a:srgbClr val="1A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804672"/>
            <a:ext cx="109728" cy="987552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84124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3C6E"/>
                </a:solidFill>
                <a:latin typeface="微软雅黑"/>
              </a:rPr>
              <a:t>标题栏/BOM表图号与文件名不匹配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188720"/>
            <a:ext cx="5394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微软雅黑"/>
              </a:rPr>
              <a:t>验证标题栏或 BOM 表中的图号是否与文件名一致</a:t>
            </a:r>
          </a:p>
          <a:p>
            <a:pPr algn="l"/>
            <a:r>
              <a:rPr sz="1100" b="0">
                <a:solidFill>
                  <a:srgbClr val="1A1A2E"/>
                </a:solidFill>
                <a:latin typeface="微软雅黑"/>
              </a:rPr>
              <a:t>→ 在图纸内错误图号旁标注参考正确内容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901952"/>
            <a:ext cx="5669280" cy="987552"/>
          </a:xfrm>
          <a:prstGeom prst="rect">
            <a:avLst/>
          </a:prstGeom>
          <a:solidFill>
            <a:srgbClr val="D6E8F7"/>
          </a:solidFill>
          <a:ln w="12700">
            <a:solidFill>
              <a:srgbClr val="1A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1901952"/>
            <a:ext cx="109728" cy="987552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193852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3C6E"/>
                </a:solidFill>
                <a:latin typeface="微软雅黑"/>
              </a:rPr>
              <a:t>BOM表零件与标准库比对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286000"/>
            <a:ext cx="5394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微软雅黑"/>
              </a:rPr>
              <a:t>对照标准零件库，检查 BOM 表中零件的内容或格式</a:t>
            </a:r>
          </a:p>
          <a:p>
            <a:pPr algn="l"/>
            <a:r>
              <a:rPr sz="1100" b="0">
                <a:solidFill>
                  <a:srgbClr val="1A1A2E"/>
                </a:solidFill>
                <a:latin typeface="微软雅黑"/>
              </a:rPr>
              <a:t>→ 输出正确图号/名称，或提示“未收录”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901952"/>
            <a:ext cx="5669280" cy="987552"/>
          </a:xfrm>
          <a:prstGeom prst="rect">
            <a:avLst/>
          </a:prstGeom>
          <a:solidFill>
            <a:srgbClr val="D6E8F7"/>
          </a:solidFill>
          <a:ln w="12700">
            <a:solidFill>
              <a:srgbClr val="1A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1901952"/>
            <a:ext cx="109728" cy="987552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193852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3C6E"/>
                </a:solidFill>
                <a:latin typeface="微软雅黑"/>
              </a:rPr>
              <a:t>更改记录空缺检查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286000"/>
            <a:ext cx="5394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微软雅黑"/>
              </a:rPr>
              <a:t>检查更改记录栏是否存在必填项未填写的情况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99232"/>
            <a:ext cx="5669280" cy="987552"/>
          </a:xfrm>
          <a:prstGeom prst="rect">
            <a:avLst/>
          </a:prstGeom>
          <a:solidFill>
            <a:srgbClr val="D6E8F7"/>
          </a:solidFill>
          <a:ln w="12700">
            <a:solidFill>
              <a:srgbClr val="1A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2999232"/>
            <a:ext cx="109728" cy="987552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03580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3C6E"/>
                </a:solidFill>
                <a:latin typeface="微软雅黑"/>
              </a:rPr>
              <a:t>标题栏空缺检查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383280"/>
            <a:ext cx="5394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微软雅黑"/>
              </a:rPr>
              <a:t>检查标题栏各字段是否存在空缺</a:t>
            </a:r>
          </a:p>
          <a:p>
            <a:pPr algn="l"/>
            <a:r>
              <a:rPr sz="1100" b="0">
                <a:solidFill>
                  <a:srgbClr val="1A1A2E"/>
                </a:solidFill>
                <a:latin typeface="微软雅黑"/>
              </a:rPr>
              <a:t>※ 材料/规格/表面处理若未填写，不会在图中圈出，但会在检查报告中记录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D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09728" cy="589788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91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报错与防崩溃机制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3C6E"/>
                </a:solidFill>
                <a:latin typeface="微软雅黑"/>
              </a:rPr>
              <a:t>当检查过程中遇到严重错误时，系统会有以下表现：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640080" cy="73152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0160" y="1463040"/>
            <a:ext cx="10058400" cy="731520"/>
          </a:xfrm>
          <a:prstGeom prst="rect">
            <a:avLst/>
          </a:prstGeom>
          <a:solidFill>
            <a:srgbClr val="F0F4F8"/>
          </a:solidFill>
          <a:ln w="12700">
            <a:solidFill>
              <a:srgbClr val="D6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1600200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微软雅黑"/>
              </a:rPr>
              <a:t>检查进程中止  —  当前检查操作将停止执行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14600"/>
            <a:ext cx="640080" cy="73152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51460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80160" y="2514600"/>
            <a:ext cx="10058400" cy="731520"/>
          </a:xfrm>
          <a:prstGeom prst="rect">
            <a:avLst/>
          </a:prstGeom>
          <a:solidFill>
            <a:srgbClr val="F0F4F8"/>
          </a:solidFill>
          <a:ln w="12700">
            <a:solidFill>
              <a:srgbClr val="D6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2651760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微软雅黑"/>
              </a:rPr>
              <a:t>AutoCAD 报错并关闭  —  AutoCAD 应用程序可能自动退出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566160"/>
            <a:ext cx="640080" cy="73152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56616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80160" y="3566160"/>
            <a:ext cx="10058400" cy="731520"/>
          </a:xfrm>
          <a:prstGeom prst="rect">
            <a:avLst/>
          </a:prstGeom>
          <a:solidFill>
            <a:srgbClr val="F0F4F8"/>
          </a:solidFill>
          <a:ln w="12700">
            <a:solidFill>
              <a:srgbClr val="D6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17320" y="3703320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微软雅黑"/>
              </a:rPr>
              <a:t>原始文件安全  —  原始 .dwg 文件不会被损坏或修改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846320"/>
            <a:ext cx="10789920" cy="640080"/>
          </a:xfrm>
          <a:prstGeom prst="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910328"/>
            <a:ext cx="105704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微软雅黑"/>
              </a:rPr>
              <a:t>✅  解决方法：重启 AutoCAD，等待片刻后重新执行检查操作即可。无需担心文件安全。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6692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6FB5"/>
                </a:solidFill>
                <a:latin typeface="微软雅黑"/>
              </a:rPr>
              <a:t>请放心：原始图纸文件均不会因报错而被损坏。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D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09728" cy="589788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91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软件卸载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868680"/>
            <a:ext cx="7772400" cy="640080"/>
          </a:xfrm>
          <a:prstGeom prst="rect">
            <a:avLst/>
          </a:prstGeom>
          <a:solidFill>
            <a:srgbClr val="D6E8F7"/>
          </a:solidFill>
          <a:ln w="12700">
            <a:solidFill>
              <a:srgbClr val="1A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74980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微软雅黑"/>
              </a:rPr>
              <a:t>① 打开 Windows【控制面板】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18488"/>
            <a:ext cx="7772400" cy="640080"/>
          </a:xfrm>
          <a:prstGeom prst="rect">
            <a:avLst/>
          </a:prstGeom>
          <a:solidFill>
            <a:srgbClr val="D6E8F7"/>
          </a:solidFill>
          <a:ln w="12700">
            <a:solidFill>
              <a:srgbClr val="1A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709928"/>
            <a:ext cx="74980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微软雅黑"/>
              </a:rPr>
              <a:t>② 点击【程序】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68296"/>
            <a:ext cx="7772400" cy="640080"/>
          </a:xfrm>
          <a:prstGeom prst="rect">
            <a:avLst/>
          </a:prstGeom>
          <a:solidFill>
            <a:srgbClr val="D6E8F7"/>
          </a:solidFill>
          <a:ln w="12700">
            <a:solidFill>
              <a:srgbClr val="1A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459736"/>
            <a:ext cx="74980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微软雅黑"/>
              </a:rPr>
              <a:t>③ 点击【程序和功能】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118104"/>
            <a:ext cx="7772400" cy="640080"/>
          </a:xfrm>
          <a:prstGeom prst="rect">
            <a:avLst/>
          </a:prstGeom>
          <a:solidFill>
            <a:srgbClr val="D6E8F7"/>
          </a:solidFill>
          <a:ln w="12700">
            <a:solidFill>
              <a:srgbClr val="1A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209544"/>
            <a:ext cx="74980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微软雅黑"/>
              </a:rPr>
              <a:t>④ 在程序列表中找到【CADCheckTool】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867912"/>
            <a:ext cx="7772400" cy="640080"/>
          </a:xfrm>
          <a:prstGeom prst="rect">
            <a:avLst/>
          </a:prstGeom>
          <a:solidFill>
            <a:srgbClr val="D6E8F7"/>
          </a:solidFill>
          <a:ln w="12700">
            <a:solidFill>
              <a:srgbClr val="1A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59352"/>
            <a:ext cx="74980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微软雅黑"/>
              </a:rPr>
              <a:t>⑤ 右键点击 → 选择【卸载】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617720"/>
            <a:ext cx="7772400" cy="640080"/>
          </a:xfrm>
          <a:prstGeom prst="rect">
            <a:avLst/>
          </a:prstGeom>
          <a:solidFill>
            <a:srgbClr val="D6E8F7"/>
          </a:solidFill>
          <a:ln w="12700">
            <a:solidFill>
              <a:srgbClr val="1A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709160"/>
            <a:ext cx="74980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微软雅黑"/>
              </a:rPr>
              <a:t>⑥ 按照卸载向导完成操作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03920" y="868680"/>
            <a:ext cx="3383280" cy="4480560"/>
          </a:xfrm>
          <a:prstGeom prst="rect">
            <a:avLst/>
          </a:prstGeom>
          <a:solidFill>
            <a:srgbClr val="D6E8F7"/>
          </a:solidFill>
          <a:ln w="19050">
            <a:solidFill>
              <a:srgbClr val="1A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2907792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6FB5"/>
                </a:solidFill>
                <a:latin typeface="微软雅黑"/>
              </a:rPr>
              <a:t>【截图占位：控制面板 → 程序和功能 卸载界面】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9857"/>
            <a:ext cx="12188952" cy="2500"/>
          </a:xfrm>
          <a:prstGeom prst="rect">
            <a:avLst/>
          </a:prstGeom>
          <a:solidFill>
            <a:srgbClr val="1E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79714"/>
            <a:ext cx="12188952" cy="2500"/>
          </a:xfrm>
          <a:prstGeom prst="rect">
            <a:avLst/>
          </a:prstGeom>
          <a:solidFill>
            <a:srgbClr val="1E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469571"/>
            <a:ext cx="12188952" cy="2500"/>
          </a:xfrm>
          <a:prstGeom prst="rect">
            <a:avLst/>
          </a:prstGeom>
          <a:solidFill>
            <a:srgbClr val="1E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959428"/>
            <a:ext cx="12188952" cy="2500"/>
          </a:xfrm>
          <a:prstGeom prst="rect">
            <a:avLst/>
          </a:prstGeom>
          <a:solidFill>
            <a:srgbClr val="1E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449285"/>
            <a:ext cx="12188952" cy="2500"/>
          </a:xfrm>
          <a:prstGeom prst="rect">
            <a:avLst/>
          </a:prstGeom>
          <a:solidFill>
            <a:srgbClr val="1E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2939142"/>
            <a:ext cx="12188952" cy="2500"/>
          </a:xfrm>
          <a:prstGeom prst="rect">
            <a:avLst/>
          </a:prstGeom>
          <a:solidFill>
            <a:srgbClr val="1E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3429000"/>
            <a:ext cx="12188952" cy="2500"/>
          </a:xfrm>
          <a:prstGeom prst="rect">
            <a:avLst/>
          </a:prstGeom>
          <a:solidFill>
            <a:srgbClr val="1E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3918857"/>
            <a:ext cx="12188952" cy="2500"/>
          </a:xfrm>
          <a:prstGeom prst="rect">
            <a:avLst/>
          </a:prstGeom>
          <a:solidFill>
            <a:srgbClr val="1E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4408714"/>
            <a:ext cx="12188952" cy="2500"/>
          </a:xfrm>
          <a:prstGeom prst="rect">
            <a:avLst/>
          </a:prstGeom>
          <a:solidFill>
            <a:srgbClr val="1E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898571"/>
            <a:ext cx="12188952" cy="2500"/>
          </a:xfrm>
          <a:prstGeom prst="rect">
            <a:avLst/>
          </a:prstGeom>
          <a:solidFill>
            <a:srgbClr val="1E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5388428"/>
            <a:ext cx="12188952" cy="2500"/>
          </a:xfrm>
          <a:prstGeom prst="rect">
            <a:avLst/>
          </a:prstGeom>
          <a:solidFill>
            <a:srgbClr val="1E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5878285"/>
            <a:ext cx="12188952" cy="2500"/>
          </a:xfrm>
          <a:prstGeom prst="rect">
            <a:avLst/>
          </a:prstGeom>
          <a:solidFill>
            <a:srgbClr val="1E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368142"/>
            <a:ext cx="12188952" cy="2500"/>
          </a:xfrm>
          <a:prstGeom prst="rect">
            <a:avLst/>
          </a:prstGeom>
          <a:solidFill>
            <a:srgbClr val="1E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7873" y="0"/>
            <a:ext cx="2500" cy="6858000"/>
          </a:xfrm>
          <a:prstGeom prst="rect">
            <a:avLst/>
          </a:prstGeom>
          <a:solidFill>
            <a:srgbClr val="1E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15746" y="0"/>
            <a:ext cx="2500" cy="6858000"/>
          </a:xfrm>
          <a:prstGeom prst="rect">
            <a:avLst/>
          </a:prstGeom>
          <a:solidFill>
            <a:srgbClr val="1E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523619" y="0"/>
            <a:ext cx="2500" cy="6858000"/>
          </a:xfrm>
          <a:prstGeom prst="rect">
            <a:avLst/>
          </a:prstGeom>
          <a:solidFill>
            <a:srgbClr val="1E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31492" y="0"/>
            <a:ext cx="2500" cy="6858000"/>
          </a:xfrm>
          <a:prstGeom prst="rect">
            <a:avLst/>
          </a:prstGeom>
          <a:solidFill>
            <a:srgbClr val="1E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39365" y="0"/>
            <a:ext cx="2500" cy="6858000"/>
          </a:xfrm>
          <a:prstGeom prst="rect">
            <a:avLst/>
          </a:prstGeom>
          <a:solidFill>
            <a:srgbClr val="1E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047238" y="0"/>
            <a:ext cx="2500" cy="6858000"/>
          </a:xfrm>
          <a:prstGeom prst="rect">
            <a:avLst/>
          </a:prstGeom>
          <a:solidFill>
            <a:srgbClr val="1E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55111" y="0"/>
            <a:ext cx="2500" cy="6858000"/>
          </a:xfrm>
          <a:prstGeom prst="rect">
            <a:avLst/>
          </a:prstGeom>
          <a:solidFill>
            <a:srgbClr val="1E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062984" y="0"/>
            <a:ext cx="2500" cy="6858000"/>
          </a:xfrm>
          <a:prstGeom prst="rect">
            <a:avLst/>
          </a:prstGeom>
          <a:solidFill>
            <a:srgbClr val="1E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0857" y="0"/>
            <a:ext cx="2500" cy="6858000"/>
          </a:xfrm>
          <a:prstGeom prst="rect">
            <a:avLst/>
          </a:prstGeom>
          <a:solidFill>
            <a:srgbClr val="1E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78730" y="0"/>
            <a:ext cx="2500" cy="6858000"/>
          </a:xfrm>
          <a:prstGeom prst="rect">
            <a:avLst/>
          </a:prstGeom>
          <a:solidFill>
            <a:srgbClr val="1E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86603" y="0"/>
            <a:ext cx="2500" cy="6858000"/>
          </a:xfrm>
          <a:prstGeom prst="rect">
            <a:avLst/>
          </a:prstGeom>
          <a:solidFill>
            <a:srgbClr val="1E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94476" y="0"/>
            <a:ext cx="2500" cy="6858000"/>
          </a:xfrm>
          <a:prstGeom prst="rect">
            <a:avLst/>
          </a:prstGeom>
          <a:solidFill>
            <a:srgbClr val="1E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602349" y="0"/>
            <a:ext cx="2500" cy="6858000"/>
          </a:xfrm>
          <a:prstGeom prst="rect">
            <a:avLst/>
          </a:prstGeom>
          <a:solidFill>
            <a:srgbClr val="1E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110222" y="0"/>
            <a:ext cx="2500" cy="6858000"/>
          </a:xfrm>
          <a:prstGeom prst="rect">
            <a:avLst/>
          </a:prstGeom>
          <a:solidFill>
            <a:srgbClr val="1E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618095" y="0"/>
            <a:ext cx="2500" cy="6858000"/>
          </a:xfrm>
          <a:prstGeom prst="rect">
            <a:avLst/>
          </a:prstGeom>
          <a:solidFill>
            <a:srgbClr val="1E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25968" y="0"/>
            <a:ext cx="2500" cy="6858000"/>
          </a:xfrm>
          <a:prstGeom prst="rect">
            <a:avLst/>
          </a:prstGeom>
          <a:solidFill>
            <a:srgbClr val="1E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633841" y="0"/>
            <a:ext cx="2500" cy="6858000"/>
          </a:xfrm>
          <a:prstGeom prst="rect">
            <a:avLst/>
          </a:prstGeom>
          <a:solidFill>
            <a:srgbClr val="1E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141714" y="0"/>
            <a:ext cx="2500" cy="6858000"/>
          </a:xfrm>
          <a:prstGeom prst="rect">
            <a:avLst/>
          </a:prstGeom>
          <a:solidFill>
            <a:srgbClr val="1E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49587" y="0"/>
            <a:ext cx="2500" cy="6858000"/>
          </a:xfrm>
          <a:prstGeom prst="rect">
            <a:avLst/>
          </a:prstGeom>
          <a:solidFill>
            <a:srgbClr val="1E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157460" y="0"/>
            <a:ext cx="2500" cy="6858000"/>
          </a:xfrm>
          <a:prstGeom prst="rect">
            <a:avLst/>
          </a:prstGeom>
          <a:solidFill>
            <a:srgbClr val="1E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665333" y="0"/>
            <a:ext cx="2500" cy="6858000"/>
          </a:xfrm>
          <a:prstGeom prst="rect">
            <a:avLst/>
          </a:prstGeom>
          <a:solidFill>
            <a:srgbClr val="1E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1173206" y="0"/>
            <a:ext cx="2500" cy="6858000"/>
          </a:xfrm>
          <a:prstGeom prst="rect">
            <a:avLst/>
          </a:prstGeom>
          <a:solidFill>
            <a:srgbClr val="1E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681079" y="0"/>
            <a:ext cx="2500" cy="6858000"/>
          </a:xfrm>
          <a:prstGeom prst="rect">
            <a:avLst/>
          </a:prstGeom>
          <a:solidFill>
            <a:srgbClr val="1E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2743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</a:rPr>
              <a:t>快速核查清单  &amp;  获取支持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1051560"/>
            <a:ext cx="5486400" cy="566928"/>
          </a:xfrm>
          <a:prstGeom prst="rect">
            <a:avLst/>
          </a:prstGeom>
          <a:solidFill>
            <a:srgbClr val="124A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1124712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/>
              </a:rPr>
              <a:t>□  安装前已关闭 AutoCAD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92240" y="1051560"/>
            <a:ext cx="5486400" cy="566928"/>
          </a:xfrm>
          <a:prstGeom prst="rect">
            <a:avLst/>
          </a:prstGeom>
          <a:solidFill>
            <a:srgbClr val="124A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01968" y="1124712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/>
              </a:rPr>
              <a:t>□  以管理员身份运行 setup.exe 并点击 Install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1746504"/>
            <a:ext cx="5486400" cy="566928"/>
          </a:xfrm>
          <a:prstGeom prst="rect">
            <a:avLst/>
          </a:prstGeom>
          <a:solidFill>
            <a:srgbClr val="124A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" y="1819656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/>
              </a:rPr>
              <a:t>□  使用命令 CHECKDRAWING 打开插件窗口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92240" y="1746504"/>
            <a:ext cx="5486400" cy="566928"/>
          </a:xfrm>
          <a:prstGeom prst="rect">
            <a:avLst/>
          </a:prstGeom>
          <a:solidFill>
            <a:srgbClr val="124A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01968" y="1819656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/>
              </a:rPr>
              <a:t>□  单张检查：点击 [单张检查] → [检查当前图纸]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2441448"/>
            <a:ext cx="5486400" cy="566928"/>
          </a:xfrm>
          <a:prstGeom prst="rect">
            <a:avLst/>
          </a:prstGeom>
          <a:solidFill>
            <a:srgbClr val="124A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" y="251460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/>
              </a:rPr>
              <a:t>□  编辑前先点击 [关闭]；修改后重新检查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92240" y="2441448"/>
            <a:ext cx="5486400" cy="566928"/>
          </a:xfrm>
          <a:prstGeom prst="rect">
            <a:avLst/>
          </a:prstGeom>
          <a:solidFill>
            <a:srgbClr val="124A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01968" y="251460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/>
              </a:rPr>
              <a:t>□  批量检查前确认所有目标图纸已关闭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3136392"/>
            <a:ext cx="5486400" cy="566928"/>
          </a:xfrm>
          <a:prstGeom prst="rect">
            <a:avLst/>
          </a:prstGeom>
          <a:solidFill>
            <a:srgbClr val="124A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8368" y="3209544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/>
              </a:rPr>
              <a:t>□  批量检查：[批量检查] → [执行批量检查] → 选文件夹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92240" y="3136392"/>
            <a:ext cx="5486400" cy="566928"/>
          </a:xfrm>
          <a:prstGeom prst="rect">
            <a:avLst/>
          </a:prstGeom>
          <a:solidFill>
            <a:srgbClr val="124A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01968" y="3209544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/>
              </a:rPr>
              <a:t>□  查看报告：点击 [是] 或使用 [打开批量检查报告]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3831336"/>
            <a:ext cx="5486400" cy="566928"/>
          </a:xfrm>
          <a:prstGeom prst="rect">
            <a:avLst/>
          </a:prstGeom>
          <a:solidFill>
            <a:srgbClr val="124A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8368" y="3904488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/>
              </a:rPr>
              <a:t>□  清除注释：目标图纸关闭后再执行清除操作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" y="5120640"/>
            <a:ext cx="10789920" cy="1143000"/>
          </a:xfrm>
          <a:prstGeom prst="rect">
            <a:avLst/>
          </a:prstGeom>
          <a:solidFill>
            <a:srgbClr val="0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1520" y="519379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D4FF"/>
                </a:solidFill>
                <a:latin typeface="微软雅黑"/>
              </a:rPr>
              <a:t>如需帮助或反馈问题，请联系技术支持：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5596128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E4FF"/>
                </a:solidFill>
                <a:latin typeface="微软雅黑"/>
              </a:rPr>
              <a:t>[Email]  【联系邮符1占位】</a:t>
            </a:r>
          </a:p>
          <a:p>
            <a:pPr algn="l"/>
            <a:r>
              <a:rPr sz="1200" b="0">
                <a:solidFill>
                  <a:srgbClr val="C8E4FF"/>
                </a:solidFill>
                <a:latin typeface="微软雅黑"/>
              </a:rPr>
              <a:t>[Tel]    【联系电话占位】</a:t>
            </a:r>
          </a:p>
          <a:p>
            <a:pPr algn="l"/>
            <a:r>
              <a:rPr sz="1200" b="0">
                <a:solidFill>
                  <a:srgbClr val="C8E4FF"/>
                </a:solidFill>
                <a:latin typeface="微软雅黑"/>
              </a:rPr>
              <a:t>[Web]    【官方网址占位】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43600" y="521208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A8D4FF"/>
                </a:solidFill>
                <a:latin typeface="微软雅黑"/>
              </a:rPr>
              <a:t>感谢使用 CADCheckTool！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